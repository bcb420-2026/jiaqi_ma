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8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CA13F-17FE-4FBF-BBBF-140C875C96F6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2F417F-F8B9-49D6-A381-33511E372F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03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F417F-F8B9-49D6-A381-33511E372FC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115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1F81EA-7216-427E-4A05-5832A1440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854D16-EB0B-76A5-6EFF-F6A9AC8BF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F7C1F4-A3E7-71E3-736F-A2F3E70FA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A1B9-D0B0-42E3-80FC-42B28F774B18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4FB61A-1E34-8153-B1E6-5E4310C8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7870E4-ACF5-7EDA-D9FC-DFE8864A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815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60513-A8BA-ABF6-5DB8-0179DBAC3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4D1150-FC9E-ED14-5AC9-85D3F4DF5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16FD3C-F2CE-824E-5C38-6FC44E506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9E80-7B18-4628-8A20-6F3D25D872E5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5E9E28-F4C8-2610-4CD5-FE23BE77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B5A7B7-2F12-977F-5073-AAD2162F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602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0F790-DD71-2140-055E-D1A08C767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CADA4A-C253-F802-3D4B-AE59E05BC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42CCE1-A9D0-D903-FEC5-D4E27001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BD95-45B3-4222-B25F-9EB558BFEA6D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C75AC-23CA-833E-7C87-80A6629F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1F2971-53DC-26B4-EBA2-9F3E89D97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85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28248-4880-2717-02AF-855DD2523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3B6D3F-2EDB-79B5-D052-ACDA8CBD2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E2BE7D-0285-6758-08D1-35D0E813C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1D6E53-BD37-84B1-B5CE-5A7178AD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9C60-522B-4CB1-BF07-5F1873585CAF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A5164E-B3DD-3863-A282-045231C5E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0DFF28-4DCC-5540-EEC7-34E36B8ED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95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F2766-5BF3-5A00-81F7-1B14B76C7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04D002-FCAB-E3A7-85F9-8EA67C97E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0351BE-8245-3603-EC93-63C0F312B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0BB3BDE-EEAE-7B11-4076-C321174D6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3CCC63-05C3-C8FD-6D4A-A7E77E9367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1838B3-A7E7-AE96-8A78-9CD1240E6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0B46-8AFB-4257-B407-0D111BA53710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7A74613-03A1-949B-F68B-35362F592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8C8C88-B39A-8381-E430-582BDBDE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195E0-6972-8EBE-4E70-35B4BE3F4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EDD96CB-B94F-6821-D155-00875B0ED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9E19-B973-449C-A76E-3F00E2CAC9FA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6D110C-9CF1-3C6C-7E79-076633CEA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71720F-E5EB-0DAA-C2AA-4ADAC6707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704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C1E01A-0D96-1DF0-127F-B118DF13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9192-12C6-480C-BC16-38671BA4803C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13A26D-3DD9-716B-2C80-29713EA36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0740C7-6967-EA9F-9637-34401005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62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BFBC85-3B7E-7791-7B57-B081DAE96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01B5A7-9EBD-F379-6588-63FD6B8CE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83C3AF-481F-02CC-4C4D-872E0AF41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11A180-90B5-4C81-B672-B886E3E80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3443-B24F-4675-8538-C3EDBC734C17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320F5C-591E-7B7E-E9F4-3924CBD7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1CF006-8DC7-1822-B257-95A277EA6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27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52DD3-1000-65B4-D4BA-A361E5079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B0B111E-A4B4-5416-5880-ABDF613E22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418CA9-F179-547F-A04E-6BC26A9E3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F3CDE2-A8F3-3930-5B49-BDED0611D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4A541-901B-4821-83A7-1E6DC328BFD4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AA3AE4-B269-34ED-74A2-2922F08C2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1DADAC-A911-9FF2-C71F-4291CB86A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674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58E92-D125-1BC9-ADF4-5FFDCF46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2615E7-DF3E-23C8-E702-E7C061240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E44AB5-A237-8990-47E0-171A75B2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EC32-3EAB-472E-A1BB-814BEBE13DA8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027EC-E201-E025-C459-70279B8BC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9AB69A-D93B-FD5E-85C3-568689F1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773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8D651-1C57-7052-4552-C302B4051C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C47BFC-B2F7-918D-6C4D-52352FDB3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2A4894-0323-843B-3B7C-8D32A87D3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18BD7-80EF-40EF-9FC5-9A5294FFF697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7BDA0F-906C-A011-69AA-854FB558F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D2ADE6-B370-1C52-8389-CEBC76AC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72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047B99-FAA5-70F1-EA76-EDCA7AAD5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E49737-FB25-6479-BBEC-9BCB486E8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15D106-AC11-D67E-D39E-32988F0F27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DBF1B-8A63-455C-BDBC-FD048421DA2E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EFB1C3-4D0F-B13B-1AAE-70FA7B7EF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6A1802-06E4-A187-D79A-618E5EA52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C155C-D537-4B14-94DA-4214830F2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21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38/nrdp.2016.8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celrep.2023.113395" TargetMode="External"/><Relationship Id="rId2" Type="http://schemas.openxmlformats.org/officeDocument/2006/relationships/hyperlink" Target="https://www.ncbi.nlm.nih.gov/geo/query/acc.cgi?acc=GSE20955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gplot2.tidyverse.org/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atijalab.org/seurat/" TargetMode="External"/><Relationship Id="rId4" Type="http://schemas.openxmlformats.org/officeDocument/2006/relationships/hyperlink" Target="https://ggplot2.tidyverse.org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atijalab.org/seurat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satijalab.org/seurat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gplot2.tidyverse.org/" TargetMode="Externa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doi.org/10.32614/CRAN.package.gprofiler2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wnload.baderlab.org/EM_Genesets/September_01_2025/Human/symbol/" TargetMode="External"/><Relationship Id="rId2" Type="http://schemas.openxmlformats.org/officeDocument/2006/relationships/hyperlink" Target="https://www.gsea-msigdb.org/gsea/index.js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-org.myaccess.library.utoronto.ca/10.1371/journal.pone.0013984" TargetMode="External"/><Relationship Id="rId2" Type="http://schemas.openxmlformats.org/officeDocument/2006/relationships/hyperlink" Target="https://doi-org.myaccess.library.utoronto.ca/10.1101/gr.1239303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hyperlink" Target="https://doi-org.myaccess.library.utoronto.ca/10.1038/s41596-018-0103-9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doi-org.myaccess.library.utoronto.ca/10.3389/fgene.2022.861428" TargetMode="External"/><Relationship Id="rId3" Type="http://schemas.openxmlformats.org/officeDocument/2006/relationships/hyperlink" Target="https://doi-org.myaccess.library.utoronto.ca/10.1038/jcbfm.2013.65" TargetMode="External"/><Relationship Id="rId7" Type="http://schemas.openxmlformats.org/officeDocument/2006/relationships/hyperlink" Target="https://doi.org/10.1212/WNL.0000000000001475" TargetMode="External"/><Relationship Id="rId2" Type="http://schemas.openxmlformats.org/officeDocument/2006/relationships/hyperlink" Target="https://doi-org.myaccess.library.utoronto.ca/10.1007/s00018-025-05796-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89/fneur.2023.1193406" TargetMode="External"/><Relationship Id="rId11" Type="http://schemas.openxmlformats.org/officeDocument/2006/relationships/hyperlink" Target="https://doi.org/10.3389/fncel.2023.1216420" TargetMode="External"/><Relationship Id="rId5" Type="http://schemas.openxmlformats.org/officeDocument/2006/relationships/hyperlink" Target="https://doi-org.myaccess.library.utoronto.ca/10.1016/j.bbi.2023.08.004" TargetMode="External"/><Relationship Id="rId10" Type="http://schemas.openxmlformats.org/officeDocument/2006/relationships/hyperlink" Target="https://doi.org/10.1101/2024.11.19.623875" TargetMode="External"/><Relationship Id="rId4" Type="http://schemas.openxmlformats.org/officeDocument/2006/relationships/hyperlink" Target="https://doi-org.myaccess.library.utoronto.ca/10.1096/fj.201700826R" TargetMode="External"/><Relationship Id="rId9" Type="http://schemas.openxmlformats.org/officeDocument/2006/relationships/hyperlink" Target="https://doi-org.myaccess.library.utoronto.ca/10.1089/neu.2013.3110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bcb420-2026/Jiaqi_Ma/blob/main/assignment_2/BCB420.bib" TargetMode="External"/><Relationship Id="rId3" Type="http://schemas.openxmlformats.org/officeDocument/2006/relationships/hyperlink" Target="https://doi.org/10.1038/s41587-023-01767-y" TargetMode="External"/><Relationship Id="rId7" Type="http://schemas.openxmlformats.org/officeDocument/2006/relationships/hyperlink" Target="https://doi.org/10.1371/journal.pone.0013984" TargetMode="External"/><Relationship Id="rId2" Type="http://schemas.openxmlformats.org/officeDocument/2006/relationships/hyperlink" Target="https://doi.org/10.1016/j.celrep.2023.11339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01/gr.1239303" TargetMode="External"/><Relationship Id="rId5" Type="http://schemas.openxmlformats.org/officeDocument/2006/relationships/hyperlink" Target="https://doi.org/10.1038/s41596-018-0103-9" TargetMode="External"/><Relationship Id="rId4" Type="http://schemas.openxmlformats.org/officeDocument/2006/relationships/hyperlink" Target="https://ggplot2.tidyverse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C95BC-986B-F1D1-DAF5-1AF937364A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Single-cell transcriptome shift of human traumatic brain injury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04BD59-2CB9-42C3-7A53-19779B9144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Jiaqi Ma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647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405C1-E926-1E38-F498-533F7A703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Traumatic Brain Injury (TBI)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C4023A80-8110-EE60-DFC6-BB130B651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057" y="1367161"/>
            <a:ext cx="5025844" cy="42296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208DB2D-A2B3-77DB-132D-199E0785F36C}"/>
              </a:ext>
            </a:extLst>
          </p:cNvPr>
          <p:cNvSpPr txBox="1"/>
          <p:nvPr/>
        </p:nvSpPr>
        <p:spPr>
          <a:xfrm>
            <a:off x="6500057" y="5596832"/>
            <a:ext cx="4641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mechanism of TBI (Modified from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Blennow et al, 2016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figure 1c)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106F4E0-9191-5D9B-3EB6-D0CE5BE8B41A}"/>
              </a:ext>
            </a:extLst>
          </p:cNvPr>
          <p:cNvSpPr/>
          <p:nvPr/>
        </p:nvSpPr>
        <p:spPr>
          <a:xfrm>
            <a:off x="7546020" y="3542189"/>
            <a:ext cx="186431" cy="56817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CD7D3096-7473-BEEA-B5CA-E8C26758F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5D8DD5-46FC-47BB-F86B-2A86EC8E5799}"/>
              </a:ext>
            </a:extLst>
          </p:cNvPr>
          <p:cNvSpPr txBox="1"/>
          <p:nvPr/>
        </p:nvSpPr>
        <p:spPr>
          <a:xfrm>
            <a:off x="958787" y="1690687"/>
            <a:ext cx="3968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force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Inertia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Neuroinflammation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Blennow et al, 2016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B682267-F568-FD84-D441-20BAAD08017D}"/>
              </a:ext>
            </a:extLst>
          </p:cNvPr>
          <p:cNvSpPr txBox="1"/>
          <p:nvPr/>
        </p:nvSpPr>
        <p:spPr>
          <a:xfrm>
            <a:off x="958787" y="4064233"/>
            <a:ext cx="5370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molecular mechanisms contributing to neuroinflammation?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922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2F644-9353-AD9B-4FAA-87D66416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F404DD-7417-D277-ECD6-E9E82C86E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75843" cy="4351338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GSE209552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Single-nucleus RNA-seq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non-neuronal death postmortem brain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Surgically removed TBI sample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Graze et al, 2023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0415D3-01FD-C022-1165-28E69914B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A2F39F-BF3E-FF68-A6C0-AC07EBF0FA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950" y="713518"/>
            <a:ext cx="6344226" cy="43513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AB51418-D217-2930-6411-E757E081F115}"/>
              </a:ext>
            </a:extLst>
          </p:cNvPr>
          <p:cNvSpPr txBox="1"/>
          <p:nvPr/>
        </p:nvSpPr>
        <p:spPr>
          <a:xfrm>
            <a:off x="5467950" y="5081306"/>
            <a:ext cx="60730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GSE209552 metadata overview; Yellow highlight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group; MVA = Motor vehicle accident, SPR = sports related,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HOB = hit by object. GOSE = Glasgow Outcome Scale extended (Modified from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Graze et al, 2023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supplemental table 1)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7A2220-EA7E-5275-C413-96841A92350D}"/>
              </a:ext>
            </a:extLst>
          </p:cNvPr>
          <p:cNvSpPr/>
          <p:nvPr/>
        </p:nvSpPr>
        <p:spPr>
          <a:xfrm>
            <a:off x="5467950" y="1340528"/>
            <a:ext cx="6344226" cy="2618913"/>
          </a:xfrm>
          <a:prstGeom prst="rect">
            <a:avLst/>
          </a:prstGeom>
          <a:solidFill>
            <a:srgbClr val="FFC00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289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55637-5975-A2CC-DD0D-29428216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Control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E628E7-B910-9450-C6C3-3F53ACD83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AB53947-8500-9365-3C9D-CAEAF305B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408" y="0"/>
            <a:ext cx="6559741" cy="22084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C3CAAE11-580A-669A-F8F0-9AC77EC73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408" y="1620653"/>
            <a:ext cx="6559741" cy="2199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8D0E450-BBE8-2F6C-A515-DE9103C9B5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408" y="3191158"/>
            <a:ext cx="6559741" cy="28534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63B5FA3-B6AD-8DDD-B9AB-011AFB76861F}"/>
              </a:ext>
            </a:extLst>
          </p:cNvPr>
          <p:cNvSpPr txBox="1"/>
          <p:nvPr/>
        </p:nvSpPr>
        <p:spPr>
          <a:xfrm>
            <a:off x="4986407" y="5979060"/>
            <a:ext cx="6559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equence coverage, depth, and mitochondrial percentage per sample; The vertical red dash line separate control (left side of red line), and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(right side of red line)(Created using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ggplot2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v4.0.1)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35ACFFC-014E-66C2-9AB4-64A20B1C399A}"/>
              </a:ext>
            </a:extLst>
          </p:cNvPr>
          <p:cNvSpPr/>
          <p:nvPr/>
        </p:nvSpPr>
        <p:spPr>
          <a:xfrm>
            <a:off x="8229600" y="88777"/>
            <a:ext cx="381000" cy="5465717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D2C0B90-E455-CC90-9EBB-367B24F4A6D0}"/>
              </a:ext>
            </a:extLst>
          </p:cNvPr>
          <p:cNvSpPr txBox="1"/>
          <p:nvPr/>
        </p:nvSpPr>
        <p:spPr>
          <a:xfrm>
            <a:off x="838200" y="1620653"/>
            <a:ext cx="45239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Mito % → Better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Exclude GSM637381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063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520BF-2420-AD5D-13CF-96D84AB2F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A6B9FA-A4B3-A232-C12B-C5AD7B141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0ECA8BD9-2358-D089-82E1-E5004E14C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537" y="1296515"/>
            <a:ext cx="8723051" cy="19554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F4B9811-14E6-0574-6B2A-8B3AB314E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537" y="3251932"/>
            <a:ext cx="8723051" cy="24009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3DD51B3B-7827-A51D-55E4-1D4760612FF7}"/>
              </a:ext>
            </a:extLst>
          </p:cNvPr>
          <p:cNvSpPr txBox="1"/>
          <p:nvPr/>
        </p:nvSpPr>
        <p:spPr>
          <a:xfrm>
            <a:off x="3208536" y="5652848"/>
            <a:ext cx="9158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 and post normalized counts per cell (randomly sample 1 cell per GSM). The upper panel indicate the raw counts distribution; The bottom panel indicate the normalized counts after exclude all genes that expressed in less than 10 cells; X-axis indicate the GSMs that cell is sampled from; The vertical red dash line separate control and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)(Created using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ggplot2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v4.0.1)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ABF2591-1461-DE2D-CBE2-9BDCCAEC9911}"/>
              </a:ext>
            </a:extLst>
          </p:cNvPr>
          <p:cNvSpPr txBox="1"/>
          <p:nvPr/>
        </p:nvSpPr>
        <p:spPr>
          <a:xfrm>
            <a:off x="420209" y="1627892"/>
            <a:ext cx="28556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Log-CP10k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Seurat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v5.4.0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NormalizeData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Scale.factor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Genes detected in less than 10 cells excluded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9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DC9DA-782E-F69F-CAD6-C4C4AF2C8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MDS Plot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DA7F9D9-F142-6F48-006F-17F8FF1FF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371" y="287147"/>
            <a:ext cx="7491429" cy="53510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E566CC-88B6-AB42-634C-69051A158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12C980-2887-6DFB-4222-CB5F2D4264A9}"/>
              </a:ext>
            </a:extLst>
          </p:cNvPr>
          <p:cNvSpPr txBox="1"/>
          <p:nvPr/>
        </p:nvSpPr>
        <p:spPr>
          <a:xfrm>
            <a:off x="408373" y="1690688"/>
            <a:ext cx="34539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Seurat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v5.4.0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FindVariableFeatures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Selection.method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“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nfeature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ScaleData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runPCA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npcs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761062-FD5B-C782-BF29-D958EF2BAD6A}"/>
              </a:ext>
            </a:extLst>
          </p:cNvPr>
          <p:cNvSpPr txBox="1"/>
          <p:nvPr/>
        </p:nvSpPr>
        <p:spPr>
          <a:xfrm>
            <a:off x="3862371" y="5638169"/>
            <a:ext cx="7491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MDS plot grouped by condition. Y-axis is the second PC; X-axis is the first PC; Each dot indicate a single cell; Red denote control; Blue denote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(Created using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Seurat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v5.4.0)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017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7447F-E1EE-6D4D-6CC6-40AEECA1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Gene Expression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A5E9B7-A3E8-632A-35E6-B263C8F6B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4E2A59-06B0-E91B-C4BA-131E796AA7F3}"/>
              </a:ext>
            </a:extLst>
          </p:cNvPr>
          <p:cNvSpPr txBox="1"/>
          <p:nvPr/>
        </p:nvSpPr>
        <p:spPr>
          <a:xfrm>
            <a:off x="9294921" y="80996"/>
            <a:ext cx="27964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Wilcoxon Rank-Sum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Bonferroni correction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Seurat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v5.4.0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FindMarkers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CDDC54-A6E3-1B6E-B7FC-311C20137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878" y="1451792"/>
            <a:ext cx="6096001" cy="43542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2D86ECA-08F7-E58A-1547-D148AE3182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1792"/>
            <a:ext cx="6096000" cy="43542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460B35A-1F69-33BE-C9E3-AD0CC24F2771}"/>
              </a:ext>
            </a:extLst>
          </p:cNvPr>
          <p:cNvSpPr txBox="1"/>
          <p:nvPr/>
        </p:nvSpPr>
        <p:spPr>
          <a:xfrm>
            <a:off x="1" y="5806078"/>
            <a:ext cx="6104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Volcano plot grouped by condition. Y-axis is negative log-transformed adjusted p value; X-axis is the average log-fold change centered at zero (Created using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ggplot2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v4.0.1)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1BD6D9E-6B3E-AE55-9994-D7F492FED14A}"/>
              </a:ext>
            </a:extLst>
          </p:cNvPr>
          <p:cNvSpPr txBox="1"/>
          <p:nvPr/>
        </p:nvSpPr>
        <p:spPr>
          <a:xfrm>
            <a:off x="6100439" y="5806078"/>
            <a:ext cx="6104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7: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of top 20 gene with lowest adjusted p value. Y-axis indicate the HOGO symbol of selected genes; Each tiny column along X-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cell (Created using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Seurat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v5.4.0)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6C5F00F-40F4-B443-358A-BFD1E67B1413}"/>
              </a:ext>
            </a:extLst>
          </p:cNvPr>
          <p:cNvSpPr/>
          <p:nvPr/>
        </p:nvSpPr>
        <p:spPr>
          <a:xfrm>
            <a:off x="310718" y="3009530"/>
            <a:ext cx="328474" cy="22194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64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976BB-0C26-BB2E-12C4-E0ECA674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Thresholded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CB6F1B3-79DE-2677-FD31-42A4E91EC2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604" y="1707249"/>
                <a:ext cx="4829452" cy="4304226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Rank by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𝐹𝐶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=(1 −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𝑣𝑎𝑙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𝑎𝑑𝑗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)×(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𝑎𝑣𝑔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2_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𝐹𝐶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2"/>
                  </a:rPr>
                  <a:t>gprofiler2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v0.2.4</a:t>
                </a:r>
              </a:p>
              <a:p>
                <a:r>
                  <a:rPr lang="en-US" altLang="zh-CN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gost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()</a:t>
                </a:r>
              </a:p>
              <a:p>
                <a:pPr lvl="1"/>
                <a:r>
                  <a:rPr lang="en-US" altLang="zh-CN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correction_method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“</a:t>
                </a:r>
                <a:r>
                  <a:rPr lang="en-US" altLang="zh-CN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fdr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</a:t>
                </a:r>
              </a:p>
              <a:p>
                <a:pPr lvl="1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sources = “GO:BP” (e113_eg59_p19_6be52918)</a:t>
                </a:r>
              </a:p>
              <a:p>
                <a:pPr marL="0" indent="0"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 (number of pathway identified):</a:t>
                </a:r>
              </a:p>
              <a:p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All: 496</a:t>
                </a:r>
              </a:p>
              <a:p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Up: 579</a:t>
                </a:r>
              </a:p>
              <a:p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Down: 112</a:t>
                </a:r>
              </a:p>
              <a:p>
                <a:pPr lvl="1"/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CB6F1B3-79DE-2677-FD31-42A4E91EC2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604" y="1707249"/>
                <a:ext cx="4829452" cy="4304226"/>
              </a:xfrm>
              <a:blipFill>
                <a:blip r:embed="rId3"/>
                <a:stretch>
                  <a:fillRect l="-1136" t="-1275" r="-1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B0BCE9-129C-89D7-49F8-E7A762C4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3EB7A8-96DB-BB0D-C293-A8AE37E7C9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067" y="3928"/>
            <a:ext cx="7052933" cy="30517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3C7AFD2-FC28-1879-B86D-BD40BD4A9E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056" y="3469223"/>
            <a:ext cx="7056274" cy="30517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2D820FD-6135-F593-92D5-ABD42AA860CE}"/>
              </a:ext>
            </a:extLst>
          </p:cNvPr>
          <p:cNvSpPr txBox="1"/>
          <p:nvPr/>
        </p:nvSpPr>
        <p:spPr>
          <a:xfrm>
            <a:off x="5135726" y="3036243"/>
            <a:ext cx="6104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8: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significantly Up-regulated GO:BP pathway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23E5AB-A105-34CA-0959-E0A1D00EA8CA}"/>
              </a:ext>
            </a:extLst>
          </p:cNvPr>
          <p:cNvSpPr txBox="1"/>
          <p:nvPr/>
        </p:nvSpPr>
        <p:spPr>
          <a:xfrm>
            <a:off x="5134056" y="6488668"/>
            <a:ext cx="6104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9: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significantly Down-regulated GO:BP pathway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572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27DA23-9526-5189-080C-D61894BB0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thresholded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GSEA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34660F-2B8B-18FE-2F37-04A390FE6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GSEA Desktop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v4.4.0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Pathway data: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Bader lab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EM_Genesets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(September_01_2025)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permutations: 2000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size: 500 (default)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 size: 15 (default)</a:t>
            </a:r>
          </a:p>
          <a:p>
            <a:pPr marL="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(number of pathway identified):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Up: 4330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Down: 1243</a:t>
            </a:r>
          </a:p>
          <a:p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835E28-A40F-E5C9-3962-59FD4B3D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51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B15FE1-49AF-8715-CEAF-98E35C92D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937E2A-EE8E-EA01-F344-4DCE6B0E0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38804" cy="6870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BA5572D-A9B0-149D-8B99-F658683D9BA5}"/>
              </a:ext>
            </a:extLst>
          </p:cNvPr>
          <p:cNvSpPr txBox="1"/>
          <p:nvPr/>
        </p:nvSpPr>
        <p:spPr>
          <a:xfrm>
            <a:off x="9738805" y="5284127"/>
            <a:ext cx="2370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10: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20 significantly Up-regulated pathway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8C65D6-1424-E299-DDB9-9A9086A0BEE3}"/>
              </a:ext>
            </a:extLst>
          </p:cNvPr>
          <p:cNvSpPr/>
          <p:nvPr/>
        </p:nvSpPr>
        <p:spPr>
          <a:xfrm>
            <a:off x="0" y="825623"/>
            <a:ext cx="9738804" cy="3817398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38145B-3498-2BEE-4A64-9E27A73013FE}"/>
              </a:ext>
            </a:extLst>
          </p:cNvPr>
          <p:cNvSpPr/>
          <p:nvPr/>
        </p:nvSpPr>
        <p:spPr>
          <a:xfrm>
            <a:off x="-1" y="4961403"/>
            <a:ext cx="9738804" cy="32272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F52C8A-B75A-CDEE-3C6D-8FCB252D87D5}"/>
              </a:ext>
            </a:extLst>
          </p:cNvPr>
          <p:cNvSpPr/>
          <p:nvPr/>
        </p:nvSpPr>
        <p:spPr>
          <a:xfrm>
            <a:off x="-1" y="5584429"/>
            <a:ext cx="9738804" cy="1264133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9D820B-2EF2-28BE-5D23-ED498C2CA1A2}"/>
              </a:ext>
            </a:extLst>
          </p:cNvPr>
          <p:cNvSpPr/>
          <p:nvPr/>
        </p:nvSpPr>
        <p:spPr>
          <a:xfrm>
            <a:off x="9884544" y="1000998"/>
            <a:ext cx="390247" cy="32272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DF2F09-BA6D-FBBB-D32A-0CEE36C41A53}"/>
              </a:ext>
            </a:extLst>
          </p:cNvPr>
          <p:cNvSpPr/>
          <p:nvPr/>
        </p:nvSpPr>
        <p:spPr>
          <a:xfrm>
            <a:off x="-1" y="525321"/>
            <a:ext cx="9738804" cy="278496"/>
          </a:xfrm>
          <a:prstGeom prst="rect">
            <a:avLst/>
          </a:prstGeom>
          <a:solidFill>
            <a:srgbClr val="00B0F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EB6678-05BA-547A-CC11-881599B7ED0B}"/>
              </a:ext>
            </a:extLst>
          </p:cNvPr>
          <p:cNvSpPr/>
          <p:nvPr/>
        </p:nvSpPr>
        <p:spPr>
          <a:xfrm>
            <a:off x="9884545" y="554467"/>
            <a:ext cx="390247" cy="322724"/>
          </a:xfrm>
          <a:prstGeom prst="rect">
            <a:avLst/>
          </a:prstGeom>
          <a:solidFill>
            <a:srgbClr val="00B0F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BFF21AC-EBA3-219E-D076-1CA5A91F075A}"/>
              </a:ext>
            </a:extLst>
          </p:cNvPr>
          <p:cNvSpPr/>
          <p:nvPr/>
        </p:nvSpPr>
        <p:spPr>
          <a:xfrm>
            <a:off x="9884544" y="1421878"/>
            <a:ext cx="390247" cy="32272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80867D-D0B3-1A5E-D51E-A61690975919}"/>
              </a:ext>
            </a:extLst>
          </p:cNvPr>
          <p:cNvSpPr/>
          <p:nvPr/>
        </p:nvSpPr>
        <p:spPr>
          <a:xfrm>
            <a:off x="-2" y="4661101"/>
            <a:ext cx="9738804" cy="32272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EEF0669-C901-A6CA-0472-DBFC84C592B4}"/>
              </a:ext>
            </a:extLst>
          </p:cNvPr>
          <p:cNvSpPr/>
          <p:nvPr/>
        </p:nvSpPr>
        <p:spPr>
          <a:xfrm>
            <a:off x="-2" y="5263568"/>
            <a:ext cx="9738804" cy="32272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67CB526-F6AE-FBFD-66CC-B2FC966B89DC}"/>
              </a:ext>
            </a:extLst>
          </p:cNvPr>
          <p:cNvSpPr txBox="1"/>
          <p:nvPr/>
        </p:nvSpPr>
        <p:spPr>
          <a:xfrm>
            <a:off x="10274789" y="525321"/>
            <a:ext cx="1736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TNF-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NF-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19E624-C155-2DC5-4BF3-234E493C5778}"/>
              </a:ext>
            </a:extLst>
          </p:cNvPr>
          <p:cNvSpPr txBox="1"/>
          <p:nvPr/>
        </p:nvSpPr>
        <p:spPr>
          <a:xfrm>
            <a:off x="10274789" y="950860"/>
            <a:ext cx="2153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Protein synthesis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708EF7-8E07-DF19-A094-AD18CBD869AB}"/>
              </a:ext>
            </a:extLst>
          </p:cNvPr>
          <p:cNvSpPr txBox="1"/>
          <p:nvPr/>
        </p:nvSpPr>
        <p:spPr>
          <a:xfrm>
            <a:off x="10274789" y="1370330"/>
            <a:ext cx="1994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Translation initiation &amp; elongation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337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862866-83A7-A0F5-E8AA-F93DD2E16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11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730A0D3-183A-839F-F3B6-3B0059426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3" y="0"/>
            <a:ext cx="12179147" cy="64363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4146AE1-C68D-E67D-273B-704510DC20E8}"/>
              </a:ext>
            </a:extLst>
          </p:cNvPr>
          <p:cNvSpPr txBox="1"/>
          <p:nvPr/>
        </p:nvSpPr>
        <p:spPr>
          <a:xfrm>
            <a:off x="-8878" y="6436311"/>
            <a:ext cx="551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11: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20 significantly Down-regulated pathway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0F1774-DB17-F8AA-4DB6-763908579D75}"/>
              </a:ext>
            </a:extLst>
          </p:cNvPr>
          <p:cNvSpPr/>
          <p:nvPr/>
        </p:nvSpPr>
        <p:spPr>
          <a:xfrm>
            <a:off x="12854" y="656948"/>
            <a:ext cx="12166294" cy="264632"/>
          </a:xfrm>
          <a:prstGeom prst="rect">
            <a:avLst/>
          </a:prstGeom>
          <a:solidFill>
            <a:srgbClr val="00B0F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8FE956-112D-92AE-14B9-CEAD827963E2}"/>
              </a:ext>
            </a:extLst>
          </p:cNvPr>
          <p:cNvSpPr/>
          <p:nvPr/>
        </p:nvSpPr>
        <p:spPr>
          <a:xfrm>
            <a:off x="12852" y="1236632"/>
            <a:ext cx="12153442" cy="282363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7E9BDD-0A79-1D8E-5F08-77B98C8F1E33}"/>
              </a:ext>
            </a:extLst>
          </p:cNvPr>
          <p:cNvSpPr/>
          <p:nvPr/>
        </p:nvSpPr>
        <p:spPr>
          <a:xfrm>
            <a:off x="32132" y="1812809"/>
            <a:ext cx="12112432" cy="264632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55F7F15-9204-C660-C64B-8E77D60E380D}"/>
              </a:ext>
            </a:extLst>
          </p:cNvPr>
          <p:cNvSpPr/>
          <p:nvPr/>
        </p:nvSpPr>
        <p:spPr>
          <a:xfrm>
            <a:off x="32132" y="2391275"/>
            <a:ext cx="12112432" cy="264631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F4DD768-081F-7B07-6C01-DADC069FF7ED}"/>
              </a:ext>
            </a:extLst>
          </p:cNvPr>
          <p:cNvSpPr/>
          <p:nvPr/>
        </p:nvSpPr>
        <p:spPr>
          <a:xfrm>
            <a:off x="0" y="934380"/>
            <a:ext cx="12166294" cy="264632"/>
          </a:xfrm>
          <a:prstGeom prst="rect">
            <a:avLst/>
          </a:prstGeom>
          <a:solidFill>
            <a:srgbClr val="00B0F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BCF7D36-11E6-E13B-7528-9377E2092A18}"/>
              </a:ext>
            </a:extLst>
          </p:cNvPr>
          <p:cNvSpPr/>
          <p:nvPr/>
        </p:nvSpPr>
        <p:spPr>
          <a:xfrm>
            <a:off x="6426" y="1521736"/>
            <a:ext cx="12153442" cy="282363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954F51F-B43D-D996-58C3-EB76750D124A}"/>
              </a:ext>
            </a:extLst>
          </p:cNvPr>
          <p:cNvSpPr/>
          <p:nvPr/>
        </p:nvSpPr>
        <p:spPr>
          <a:xfrm>
            <a:off x="-8878" y="4105739"/>
            <a:ext cx="12153442" cy="282363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57521E-4CE3-138E-A875-E17E9849E580}"/>
              </a:ext>
            </a:extLst>
          </p:cNvPr>
          <p:cNvSpPr/>
          <p:nvPr/>
        </p:nvSpPr>
        <p:spPr>
          <a:xfrm>
            <a:off x="53862" y="2684687"/>
            <a:ext cx="12112432" cy="264632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6DDEA08-B458-6142-A582-B01D0328A6EF}"/>
              </a:ext>
            </a:extLst>
          </p:cNvPr>
          <p:cNvSpPr/>
          <p:nvPr/>
        </p:nvSpPr>
        <p:spPr>
          <a:xfrm>
            <a:off x="26931" y="5854702"/>
            <a:ext cx="12112432" cy="264631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3ABEE3D-06A1-D663-1A53-6315C5258CF6}"/>
              </a:ext>
            </a:extLst>
          </p:cNvPr>
          <p:cNvSpPr/>
          <p:nvPr/>
        </p:nvSpPr>
        <p:spPr>
          <a:xfrm>
            <a:off x="26931" y="5571064"/>
            <a:ext cx="12112432" cy="264631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D47EA04-95A8-ED45-A6A6-10A63461371D}"/>
              </a:ext>
            </a:extLst>
          </p:cNvPr>
          <p:cNvSpPr/>
          <p:nvPr/>
        </p:nvSpPr>
        <p:spPr>
          <a:xfrm>
            <a:off x="39784" y="4977642"/>
            <a:ext cx="12112432" cy="264631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0219D08-C65B-3BAD-C8C6-FE902FC68684}"/>
              </a:ext>
            </a:extLst>
          </p:cNvPr>
          <p:cNvSpPr/>
          <p:nvPr/>
        </p:nvSpPr>
        <p:spPr>
          <a:xfrm>
            <a:off x="26931" y="4705817"/>
            <a:ext cx="12112432" cy="264631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A722A17-88BD-78C4-BD77-100BC3F46113}"/>
              </a:ext>
            </a:extLst>
          </p:cNvPr>
          <p:cNvSpPr/>
          <p:nvPr/>
        </p:nvSpPr>
        <p:spPr>
          <a:xfrm>
            <a:off x="5417039" y="6501634"/>
            <a:ext cx="272049" cy="264632"/>
          </a:xfrm>
          <a:prstGeom prst="rect">
            <a:avLst/>
          </a:prstGeom>
          <a:solidFill>
            <a:srgbClr val="00B0F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DFE208-86DF-42D5-FE8F-A5EC69B4076E}"/>
              </a:ext>
            </a:extLst>
          </p:cNvPr>
          <p:cNvSpPr/>
          <p:nvPr/>
        </p:nvSpPr>
        <p:spPr>
          <a:xfrm>
            <a:off x="6842249" y="6511645"/>
            <a:ext cx="272050" cy="282363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D156CA-00D3-1DA3-8A7B-BA8937572A78}"/>
              </a:ext>
            </a:extLst>
          </p:cNvPr>
          <p:cNvSpPr txBox="1"/>
          <p:nvPr/>
        </p:nvSpPr>
        <p:spPr>
          <a:xfrm>
            <a:off x="5600620" y="6476220"/>
            <a:ext cx="1549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:Sensory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32037FC-083A-B90A-82B9-BF860AB9CA02}"/>
              </a:ext>
            </a:extLst>
          </p:cNvPr>
          <p:cNvSpPr txBox="1"/>
          <p:nvPr/>
        </p:nvSpPr>
        <p:spPr>
          <a:xfrm>
            <a:off x="7021986" y="6496814"/>
            <a:ext cx="2003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:Olfactory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60293E-D806-9531-717E-7770957A4CE0}"/>
              </a:ext>
            </a:extLst>
          </p:cNvPr>
          <p:cNvSpPr/>
          <p:nvPr/>
        </p:nvSpPr>
        <p:spPr>
          <a:xfrm>
            <a:off x="8380570" y="6512873"/>
            <a:ext cx="251075" cy="264632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5BB093D-5A7D-EFB5-9196-7B19BD6C6568}"/>
              </a:ext>
            </a:extLst>
          </p:cNvPr>
          <p:cNvSpPr txBox="1"/>
          <p:nvPr/>
        </p:nvSpPr>
        <p:spPr>
          <a:xfrm>
            <a:off x="8571158" y="6509281"/>
            <a:ext cx="2003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:Ion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1C558A-9D43-1A98-538E-5B2112D47454}"/>
              </a:ext>
            </a:extLst>
          </p:cNvPr>
          <p:cNvSpPr/>
          <p:nvPr/>
        </p:nvSpPr>
        <p:spPr>
          <a:xfrm>
            <a:off x="9426662" y="6519366"/>
            <a:ext cx="262800" cy="264631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D3CB55-C52F-583F-A024-8495C437B556}"/>
              </a:ext>
            </a:extLst>
          </p:cNvPr>
          <p:cNvSpPr txBox="1"/>
          <p:nvPr/>
        </p:nvSpPr>
        <p:spPr>
          <a:xfrm>
            <a:off x="9612344" y="6509281"/>
            <a:ext cx="2003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:Cilium, Sperm motility.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987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92D1B-4A7E-DFAC-E0A8-2CA068867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Visualization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8DB3E9-F514-CCCF-0195-B82040B29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672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Cytoscape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v3.10.4 (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Shannon et al, 2003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EnrichmentMap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v3.5.0 (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Merico et al, 2010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AutoAnnotate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v1.5.2 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Reimand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 et al, 2019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atinLnBrk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Cutoff (FDR q-value): 0.05</a:t>
            </a:r>
          </a:p>
          <a:p>
            <a:pPr latinLnBrk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Cutoff (Similarity): 0.375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337744-70B1-864B-6BE1-9937CC558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0B09889-CCAC-A088-8BF9-3648997C8B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767" y="1257300"/>
            <a:ext cx="6955666" cy="5167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B065B17-E499-52AB-CF2C-118739F72FF3}"/>
              </a:ext>
            </a:extLst>
          </p:cNvPr>
          <p:cNvSpPr txBox="1"/>
          <p:nvPr/>
        </p:nvSpPr>
        <p:spPr>
          <a:xfrm>
            <a:off x="5132766" y="6424612"/>
            <a:ext cx="7059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12: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Collapsed Theme network  (Created using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Cytoscape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v3.10.4)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140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BFBAE-CA1C-86AA-5A79-ED9EEF946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C9B545-A018-1D11-EA7E-8BE6E4818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pathway/hallmark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TNF-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NF-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(</a:t>
            </a:r>
            <a:r>
              <a:rPr lang="da-DK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Zhang et al, 2025</a:t>
            </a:r>
            <a:r>
              <a:rPr lang="da-D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da-DK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Longhi et al, 2013</a:t>
            </a:r>
            <a:r>
              <a:rPr lang="da-D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da-DK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Mettand et al, 2018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Olfactory dysfunction (</a:t>
            </a:r>
            <a:r>
              <a:rPr lang="da-DK" altLang="zh-C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Liu et al, 2023</a:t>
            </a:r>
            <a:r>
              <a:rPr lang="da-D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da-DK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Luca et al, 2023</a:t>
            </a:r>
            <a:r>
              <a:rPr lang="da-D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da-DK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Xydakis et al, 2015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Motile cilia impairment (</a:t>
            </a:r>
            <a:r>
              <a:rPr lang="da-DK" altLang="zh-C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Xing et al, 2022</a:t>
            </a:r>
            <a:r>
              <a:rPr lang="da-D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da-DK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Xiong et al, 2014</a:t>
            </a:r>
            <a:r>
              <a:rPr lang="da-D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da-DK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Gupta et al, 2024</a:t>
            </a:r>
            <a:r>
              <a:rPr lang="da-D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da-DK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Nelles &amp; Hazrati, 2023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Noval pathway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design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Uncontrolled variables (sex, age, time post injury)</a:t>
            </a: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332D24-A51F-B395-34FA-D7E00C9A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3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E396D-CD62-294C-EB5B-DF3051BC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D1F410-ABD9-00BA-554E-735DFA159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155C-D537-4B14-94DA-4214830F261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310988-7811-C722-FD0B-8128CAFBC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Pivotal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Garza, Raquel, Yogita Sharma, Diahann A. M.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Atacho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2023. “Single-Cell Transcriptomics of Human Traumatic Brain Injury Reveals Activation of Endogenous Retroviruses in Oligodendroglia.” Cell Reports 42 (11).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https://doi.org/10.1016/j.celrep.2023.113395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Hao, Yuhan, Tim Stuart, Madeline H. Kowalski, et al. 2024. “Dictionary Learning for Integrative, Multimodal and Scalable Single-Cell Analysis.” 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Biotechnology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42 (2): 293–304. 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https://doi.org/10.1038/s41587-023-01767-y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“Create Elegant Data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Visualisations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Grammar of Graphics.” n.d. Accessed February 13, 2026. 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https://ggplot2.tidyverse.org/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Gprofiler2</a:t>
            </a:r>
          </a:p>
          <a:p>
            <a:pPr lvl="1"/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Reimand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Jüri, Ruth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Isserlin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Veronique Voisin, et al. 2019. “Pathway Enrichment Analysis and Visualization of Omics Data Using g:profiler, GSEA,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Cytoscape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 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EnrichmentMap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 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Protocols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14 (2): 482–517. 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https://doi.org/10.1038/s41596-018-0103-9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Shannon, Paul, Andrew Markiel, Owen Ozier, et al. 2003. “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Cytoscape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Software Environment for Integrated Models of Biomolecular Interaction Networks.” 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Genome Research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13 (11): 2498–504. 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https://doi.org/10.1101/gr.1239303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Merico, Daniele, Ruth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Isserlin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Oliver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Stueker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Andrew Emili, and Gary D. Bader. 2010. “Enrichment Map: A Network-Based Method for Gene-Set Enrichment Visualization and Interpretation.” 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PLOS ONE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5 (11): e13984. 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https://doi.org/10.1371/journal.pone.0013984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Exhaustive reference list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https://github.com/bcb420-2026/Jiaqi_Ma/blob/main/assignment_2/BCB420.bib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8528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1094</Words>
  <Application>Microsoft Office PowerPoint</Application>
  <PresentationFormat>宽屏</PresentationFormat>
  <Paragraphs>115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等线 Light</vt:lpstr>
      <vt:lpstr>Arial</vt:lpstr>
      <vt:lpstr>Cambria Math</vt:lpstr>
      <vt:lpstr>Times New Roman</vt:lpstr>
      <vt:lpstr>Office 主题​​</vt:lpstr>
      <vt:lpstr>Single-cell transcriptome shift of human traumatic brain injury</vt:lpstr>
      <vt:lpstr>Traumatic Brain Injury (TBI)</vt:lpstr>
      <vt:lpstr>Dataset</vt:lpstr>
      <vt:lpstr>Quality Control</vt:lpstr>
      <vt:lpstr>Normalization</vt:lpstr>
      <vt:lpstr>MDS Plot</vt:lpstr>
      <vt:lpstr>Differential Gene Expression</vt:lpstr>
      <vt:lpstr>Thresholded ORA</vt:lpstr>
      <vt:lpstr>Non-thresholded GSEA</vt:lpstr>
      <vt:lpstr>PowerPoint 演示文稿</vt:lpstr>
      <vt:lpstr>PowerPoint 演示文稿</vt:lpstr>
      <vt:lpstr>Network Visualization</vt:lpstr>
      <vt:lpstr>Discussion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家麒 马</dc:creator>
  <cp:lastModifiedBy>家麒 马</cp:lastModifiedBy>
  <cp:revision>108</cp:revision>
  <dcterms:created xsi:type="dcterms:W3CDTF">2026-03-30T13:28:12Z</dcterms:created>
  <dcterms:modified xsi:type="dcterms:W3CDTF">2026-03-30T22:41:46Z</dcterms:modified>
</cp:coreProperties>
</file>